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f90ecdeb95465e" /><Relationship Type="http://schemas.openxmlformats.org/officeDocument/2006/relationships/extended-properties" Target="/docProps/app.xml" Id="R400c4c43c0ef47c9" /><Relationship Type="http://schemas.openxmlformats.org/officeDocument/2006/relationships/officeDocument" Target="/ppt/presentation.xml" Id="Ra3137aae52ec44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1fc354ebdf47e1"/>
  </p:sldMasterIdLst>
  <p:notesMasterIdLst>
    <p:notesMasterId xmlns:r="http://schemas.openxmlformats.org/officeDocument/2006/relationships" r:id="Readad68cfd004a4f"/>
  </p:notesMasterIdLst>
  <p:sldIdLst>
    <p:sldId xmlns:r="http://schemas.openxmlformats.org/officeDocument/2006/relationships" id="256" r:id="Rce1c38f1de6842e8"/>
    <p:sldId xmlns:r="http://schemas.openxmlformats.org/officeDocument/2006/relationships" id="257" r:id="R8a9e27ba4e7e41d6"/>
    <p:sldId xmlns:r="http://schemas.openxmlformats.org/officeDocument/2006/relationships" id="258" r:id="Rd64163aba1a6431a"/>
    <p:sldId xmlns:r="http://schemas.openxmlformats.org/officeDocument/2006/relationships" id="259" r:id="R02e07258608f46be"/>
    <p:sldId xmlns:r="http://schemas.openxmlformats.org/officeDocument/2006/relationships" id="260" r:id="Rd7ba9a6953f24bfa"/>
    <p:sldId xmlns:r="http://schemas.openxmlformats.org/officeDocument/2006/relationships" id="261" r:id="R13f94af21fa2476c"/>
    <p:sldId xmlns:r="http://schemas.openxmlformats.org/officeDocument/2006/relationships" id="262" r:id="Rccf1c0daf0c34656"/>
    <p:sldId xmlns:r="http://schemas.openxmlformats.org/officeDocument/2006/relationships" id="263" r:id="R5aec5f2008d64f96"/>
    <p:sldId xmlns:r="http://schemas.openxmlformats.org/officeDocument/2006/relationships" id="264" r:id="R09f709268f434a8e"/>
    <p:sldId xmlns:r="http://schemas.openxmlformats.org/officeDocument/2006/relationships" id="265" r:id="Rcf107961ae6b44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3c569136cd4f6a" /><Relationship Type="http://schemas.openxmlformats.org/officeDocument/2006/relationships/slideMaster" Target="/ppt/slideMasters/slideMaster1.xml" Id="R1f1fc354ebdf47e1" /><Relationship Type="http://schemas.openxmlformats.org/officeDocument/2006/relationships/notesMaster" Target="/ppt/notesMasters/notesMaster1.xml" Id="Readad68cfd004a4f" /><Relationship Type="http://schemas.openxmlformats.org/officeDocument/2006/relationships/presProps" Target="/ppt/presProps.xml" Id="Redec72f2e18a41f9" /><Relationship Type="http://schemas.openxmlformats.org/officeDocument/2006/relationships/tableStyles" Target="/ppt/tableStyles.xml" Id="R173dc4cb97004c31" /><Relationship Type="http://schemas.openxmlformats.org/officeDocument/2006/relationships/slide" Target="/ppt/slides/slide1.xml" Id="Rce1c38f1de6842e8" /><Relationship Type="http://schemas.openxmlformats.org/officeDocument/2006/relationships/slide" Target="/ppt/slides/slide2.xml" Id="R8a9e27ba4e7e41d6" /><Relationship Type="http://schemas.openxmlformats.org/officeDocument/2006/relationships/slide" Target="/ppt/slides/slide3.xml" Id="Rd64163aba1a6431a" /><Relationship Type="http://schemas.openxmlformats.org/officeDocument/2006/relationships/slide" Target="/ppt/slides/slide4.xml" Id="R02e07258608f46be" /><Relationship Type="http://schemas.openxmlformats.org/officeDocument/2006/relationships/slide" Target="/ppt/slides/slide5.xml" Id="Rd7ba9a6953f24bfa" /><Relationship Type="http://schemas.openxmlformats.org/officeDocument/2006/relationships/slide" Target="/ppt/slides/slide6.xml" Id="R13f94af21fa2476c" /><Relationship Type="http://schemas.openxmlformats.org/officeDocument/2006/relationships/slide" Target="/ppt/slides/slide7.xml" Id="Rccf1c0daf0c34656" /><Relationship Type="http://schemas.openxmlformats.org/officeDocument/2006/relationships/slide" Target="/ppt/slides/slide8.xml" Id="R5aec5f2008d64f96" /><Relationship Type="http://schemas.openxmlformats.org/officeDocument/2006/relationships/slide" Target="/ppt/slides/slide9.xml" Id="R09f709268f434a8e" /><Relationship Type="http://schemas.openxmlformats.org/officeDocument/2006/relationships/slide" Target="/ppt/slides/slide10.xml" Id="Rcf107961ae6b44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0df4f20ad845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c9c152967f480c" /><Relationship Type="http://schemas.openxmlformats.org/officeDocument/2006/relationships/notesMaster" Target="/ppt/notesMasters/notesMaster1.xml" Id="R0d4bb278b52c4b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d7de3965814946" /><Relationship Type="http://schemas.openxmlformats.org/officeDocument/2006/relationships/notesMaster" Target="/ppt/notesMasters/notesMaster1.xml" Id="R288a9f0cb6cb4c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059f0cf602489a" /><Relationship Type="http://schemas.openxmlformats.org/officeDocument/2006/relationships/notesMaster" Target="/ppt/notesMasters/notesMaster1.xml" Id="R90ebd9cf755648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781493806a4ff9" /><Relationship Type="http://schemas.openxmlformats.org/officeDocument/2006/relationships/notesMaster" Target="/ppt/notesMasters/notesMaster1.xml" Id="R367ac1102e4149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3b863c724246ed" /><Relationship Type="http://schemas.openxmlformats.org/officeDocument/2006/relationships/notesMaster" Target="/ppt/notesMasters/notesMaster1.xml" Id="Rd4d048118f8d47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f2e2d3ebae4769" /><Relationship Type="http://schemas.openxmlformats.org/officeDocument/2006/relationships/notesMaster" Target="/ppt/notesMasters/notesMaster1.xml" Id="R7b310a9b566642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91ec3add9a49ff" /><Relationship Type="http://schemas.openxmlformats.org/officeDocument/2006/relationships/notesMaster" Target="/ppt/notesMasters/notesMaster1.xml" Id="Rdd74101a58b34d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4daeebb5e14fb2" /><Relationship Type="http://schemas.openxmlformats.org/officeDocument/2006/relationships/notesMaster" Target="/ppt/notesMasters/notesMaster1.xml" Id="Re5132337661c48d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49a235ef734b80" /><Relationship Type="http://schemas.openxmlformats.org/officeDocument/2006/relationships/notesMaster" Target="/ppt/notesMasters/notesMaster1.xml" Id="Rcedff6c09e614f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a2f234e09f4d89" /><Relationship Type="http://schemas.openxmlformats.org/officeDocument/2006/relationships/notesMaster" Target="/ppt/notesMasters/notesMaster1.xml" Id="Rbfedc871f9f44d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大家好，我们是 fufuuuuuu。寝空拓扑关注宿舍里每天都在用、却总有点不顺手的那张桌子。我们想让用户在搬动真实物品之前，先在三维空间里试出一个合适的方案。画面为概念片约 62 秒的整体场景。</a:t>
            </a:r>
          </a:p>
          <a:p xmlns:a="http://schemas.openxmlformats.org/drawingml/2006/main">
            <a:r>
              <a:t>内容依据：F:/DormTopology/deliverables/寝空拓扑项目说明文档.docx（2026年10月18日）。</a:t>
            </a:r>
          </a:p>
          <a:p xmlns:a="http://schemas.openxmlformats.org/drawingml/2006/main">
            <a:r>
              <a:t>视觉来源：用户提供的 D:/jdz/Downloads/DormTopology_概念宣传片_85s.mp4。概念片画面用于表达产品场景，不代表全部能力已通过实机验收。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显示器位置刚调整好，线可能就够不到了。小物件收进空位，下面的抽屉却拉不开。我们关注的正是摆放与连接互相影响的小麻烦。画面约 12 秒。</a:t>
            </a:r>
          </a:p>
          <a:p xmlns:a="http://schemas.openxmlformats.org/drawingml/2006/main">
            <a:r>
              <a:t>内容依据：F:/DormTopology/deliverables/寝空拓扑项目说明文档.docx（2026年10月18日）。</a:t>
            </a:r>
          </a:p>
          <a:p xmlns:a="http://schemas.openxmlformats.org/drawingml/2006/main">
            <a:r>
              <a:t>视觉来源：用户提供的 D:/jdz/Downloads/DormTopology_概念宣传片_85s.mp4。概念片画面用于表达产品场景，不代表全部能力已通过实机验收。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从实例物品库添加现成物品，也可以创建自定义物品。用户确认尺寸后，就能移动、旋转、缩放，操作后也能撤销。默认尺寸和照片都不能代替实际测量。画面约 32 秒。</a:t>
            </a:r>
          </a:p>
          <a:p xmlns:a="http://schemas.openxmlformats.org/drawingml/2006/main">
            <a:r>
              <a:t>内容依据：F:/DormTopology/deliverables/寝空拓扑项目说明文档.docx（2026年10月18日）。</a:t>
            </a:r>
          </a:p>
          <a:p xmlns:a="http://schemas.openxmlformats.org/drawingml/2006/main">
            <a:r>
              <a:t>视觉来源：用户提供的 D:/jdz/Downloads/DormTopology_概念宣传片_85s.mp4。概念片画面用于表达产品场景，不代表全部能力已通过实机验收。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整理算法会在可用区域寻找摆放位置，检查边界、碰撞、支撑和层高，并为抽屉开口与滑出路径留出空间。固定物品作为约束保留。方案先预览，再由用户确认应用。放不下或存在冲突时给出明确反馈，复杂场景仍在持续校验。画面约 77 秒。</a:t>
            </a:r>
          </a:p>
          <a:p xmlns:a="http://schemas.openxmlformats.org/drawingml/2006/main">
            <a:r>
              <a:t>内容依据：F:/DormTopology/deliverables/寝空拓扑项目说明文档.docx（2026年10月18日）。</a:t>
            </a:r>
          </a:p>
          <a:p xmlns:a="http://schemas.openxmlformats.org/drawingml/2006/main">
            <a:r>
              <a:t>视觉来源：用户提供的 D:/jdz/Downloads/DormTopology_概念宣传片_85s.mp4。概念片画面用于表达产品场景，不代表全部能力已通过实机验收。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物品标记接口并确认连接关系，再查看走线建议。系统结合障碍物、允许通行区域和线长检查路线。接口遮挡、长度不足或路线不可行时，用户需要调整。整理后要基于新场景复查，不能继续沿用旧结果。概念画面约 52 秒与 57 秒。</a:t>
            </a:r>
          </a:p>
          <a:p xmlns:a="http://schemas.openxmlformats.org/drawingml/2006/main">
            <a:r>
              <a:t>内容依据：F:/DormTopology/deliverables/寝空拓扑项目说明文档.docx（2026年10月18日）。</a:t>
            </a:r>
          </a:p>
          <a:p xmlns:a="http://schemas.openxmlformats.org/drawingml/2006/main">
            <a:r>
              <a:t>视觉来源：用户提供的 D:/jdz/Downloads/DormTopology_概念宣传片_85s.mp4。概念片画面用于表达产品场景，不代表全部能力已通过实机验收。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桌面场地建模的想法，是用用户自己的桌面照片建立场地模型。目前开场流程保留为演示，真实场地模型接入待完成。工作台中的单件照片生成模型采用独立的 Rodin 后端流程，默认 Extreme Low，提示词 Generate a simple model.。目前已完成账户认证和本地流程检查，尚未完成付费生成、下载及新模型显示的完整实测。模型替换设计保留位置、尺寸与接口，失败时允许重试。画面约 27 秒。</a:t>
            </a:r>
          </a:p>
          <a:p xmlns:a="http://schemas.openxmlformats.org/drawingml/2006/main">
            <a:r>
              <a:t>内容依据：F:/DormTopology/deliverables/寝空拓扑项目说明文档.docx（2026年10月18日）。</a:t>
            </a:r>
          </a:p>
          <a:p xmlns:a="http://schemas.openxmlformats.org/drawingml/2006/main">
            <a:r>
              <a:t>视觉来源：用户提供的 D:/jdz/Downloads/DormTopology_概念宣传片_85s.mp4。概念片画面用于表达产品场景，不代表全部能力已通过实机验收。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确认整理结果后，用户可以观看整理过程，并用前后对比确认哪些物品发生移动。我们希望用户看完之后能回到真实桌面，按顺序一件件调整。画面约 67 秒，作为整理后空间效果的概念表达。</a:t>
            </a:r>
          </a:p>
          <a:p xmlns:a="http://schemas.openxmlformats.org/drawingml/2006/main">
            <a:r>
              <a:t>内容依据：F:/DormTopology/deliverables/寝空拓扑项目说明文档.docx（2026年10月18日）。</a:t>
            </a:r>
          </a:p>
          <a:p xmlns:a="http://schemas.openxmlformats.org/drawingml/2006/main">
            <a:r>
              <a:t>视觉来源：用户提供的 D:/jdz/Downloads/DormTopology_概念宣传片_85s.mp4。概念片画面用于表达产品场景，不代表全部能力已通过实机验收。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项目面向桌面浏览器，已具备物品编辑、实例物品库、整理预览、接线与走线规划、整理动画及前后对比等原型能力。复杂场景约束和个别接线路径仍在持续调试，不能视为所有场景都已经验收。前端主要采用 React、TypeScript、Three.js；后端用 FastAPI 与 Python 承接服务与布局、走线计算；SQLite 与本地文件保存数据。</a:t>
            </a:r>
          </a:p>
          <a:p xmlns:a="http://schemas.openxmlformats.org/drawingml/2006/main">
            <a:r>
              <a:t>内容依据：F:/DormTopology/deliverables/寝空拓扑项目说明文档.docx（2026年10月18日）。</a:t>
            </a:r>
          </a:p>
          <a:p xmlns:a="http://schemas.openxmlformats.org/drawingml/2006/main">
            <a:r>
              <a:t>视觉来源：用户提供的 D:/jdz/Downloads/DormTopology_概念宣传片_85s.mp4。概念片画面用于表达产品场景，不代表全部能力已通过实机验收。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团队成员均为大一。付运杰为队长，生物医学工程专业，负责创意构思与产品设计。姜戴哲为电子信息工程专业，负责前端设计与前后端协同。王云汉为电子信息工程专业，负责前端设计与产品展示。钱胤辰为计算机科学与技术专业，负责后端算法生成。以上信息来自项目说明文档。团队在开发与文档中使用 AI 辅助，并负责审查、整合和验证。开源框架与 Rodin 等第三方能力按各自许可使用。</a:t>
            </a:r>
          </a:p>
          <a:p xmlns:a="http://schemas.openxmlformats.org/drawingml/2006/main">
            <a:r>
              <a:t>内容依据：F:/DormTopology/deliverables/寝空拓扑项目说明文档.docx（2026年10月18日）。</a:t>
            </a:r>
          </a:p>
          <a:p xmlns:a="http://schemas.openxmlformats.org/drawingml/2006/main">
            <a:r>
              <a:t>视觉来源：用户提供的 D:/jdz/Downloads/DormTopology_概念宣传片_85s.mp4。概念片画面用于表达产品场景，不代表全部能力已通过实机验收。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寝空拓扑想解决的事情很朴素：让物品摆得合适，让线缆走得清楚，让每一次调整更有把握。感谢大家。项目仓库：https://github.com/Techathon-fufu/DormTopology.git。画面为概念片约 37 秒。</a:t>
            </a:r>
          </a:p>
          <a:p xmlns:a="http://schemas.openxmlformats.org/drawingml/2006/main">
            <a:r>
              <a:t>内容依据：F:/DormTopology/deliverables/寝空拓扑项目说明文档.docx（2026年10月18日）。</a:t>
            </a:r>
          </a:p>
          <a:p xmlns:a="http://schemas.openxmlformats.org/drawingml/2006/main">
            <a:r>
              <a:t>视觉来源：用户提供的 D:/jdz/Downloads/DormTopology_概念宣传片_85s.mp4。概念片画面用于表达产品场景，不代表全部能力已通过实机验收。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d31fe3c864a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ea31bf8fe949b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d53326d3be43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1f84d17e543f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907eab42c742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7edd57f114a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E6C938-0A72-4402-9951-B1FC62DD4E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0275CF1-DD4A-4ACD-9B34-A28F6B5BED9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E8F68AB-6521-4C75-B668-6FF7E58C3A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1E7373-61E5-47B8-AD29-5EDF3AF5A4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3D04BC6-E927-49D3-9F58-29E3A9DA05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029ECA-A634-4502-BADB-561040F2AC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637AF3B-001B-47FE-AD4B-F4347ABB6C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4DA47C1-CDD7-4906-B3D1-8D20C65779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66770F-CC35-4ED9-AD60-DFC76C3EF5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6B7C80-606B-42EC-8314-C7A867B6CB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1b0c056fba4048" /><Relationship Type="http://schemas.openxmlformats.org/officeDocument/2006/relationships/slideLayout" Target="/ppt/slideLayouts/slideLayout1.xml" Id="R376f0bc37b6e4d9f" /><Relationship Type="http://schemas.openxmlformats.org/officeDocument/2006/relationships/slideLayout" Target="/ppt/slideLayouts/slideLayout2.xml" Id="R855c3564898a46ca" /><Relationship Type="http://schemas.openxmlformats.org/officeDocument/2006/relationships/slideLayout" Target="/ppt/slideLayouts/slideLayout3.xml" Id="R82efb58f4b9a43bc" /><Relationship Type="http://schemas.openxmlformats.org/officeDocument/2006/relationships/slideLayout" Target="/ppt/slideLayouts/slideLayout4.xml" Id="R4104f55838904b32" /><Relationship Type="http://schemas.openxmlformats.org/officeDocument/2006/relationships/slideLayout" Target="/ppt/slideLayouts/slideLayout5.xml" Id="Rb494a8f1dffe4599" /><Relationship Type="http://schemas.openxmlformats.org/officeDocument/2006/relationships/slideLayout" Target="/ppt/slideLayouts/slideLayout6.xml" Id="R0001e97486ae44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6f0bc37b6e4d9f"/>
    <p:sldLayoutId xmlns:r="http://schemas.openxmlformats.org/officeDocument/2006/relationships" id="2147483650" r:id="R855c3564898a46ca"/>
    <p:sldLayoutId xmlns:r="http://schemas.openxmlformats.org/officeDocument/2006/relationships" id="2147483651" r:id="R82efb58f4b9a43bc"/>
    <p:sldLayoutId xmlns:r="http://schemas.openxmlformats.org/officeDocument/2006/relationships" id="2147483652" r:id="R4104f55838904b32"/>
    <p:sldLayoutId xmlns:r="http://schemas.openxmlformats.org/officeDocument/2006/relationships" id="2147483653" r:id="Rb494a8f1dffe4599"/>
    <p:sldLayoutId xmlns:r="http://schemas.openxmlformats.org/officeDocument/2006/relationships" id="2147483654" r:id="R0001e97486ae44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259e72561f4eba" /><Relationship Type="http://schemas.openxmlformats.org/officeDocument/2006/relationships/image" Target="/ppt/media/image.png" Id="Rdac22c474efb490f" /><Relationship Type="http://schemas.openxmlformats.org/officeDocument/2006/relationships/image" Target="/ppt/media/image.jpeg" Id="R38887b246b374aab" /><Relationship Type="http://schemas.openxmlformats.org/officeDocument/2006/relationships/notesSlide" Target="/ppt/notesSlides/notesSlide1.xml" Id="Rb80af7c2092642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1f7843903e4281" /><Relationship Type="http://schemas.openxmlformats.org/officeDocument/2006/relationships/image" Target="/ppt/media/image2.jpeg" Id="Ree0a83167a4843cc" /><Relationship Type="http://schemas.openxmlformats.org/officeDocument/2006/relationships/notesSlide" Target="/ppt/notesSlides/notesSlide2.xml" Id="Re2d80e26393f4a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2083a49c304808" /><Relationship Type="http://schemas.openxmlformats.org/officeDocument/2006/relationships/image" Target="/ppt/media/image3.jpeg" Id="R97bf8d15e4604cda" /><Relationship Type="http://schemas.openxmlformats.org/officeDocument/2006/relationships/notesSlide" Target="/ppt/notesSlides/notesSlide3.xml" Id="R2ac77d78572d4e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2fb2409c584349" /><Relationship Type="http://schemas.openxmlformats.org/officeDocument/2006/relationships/image" Target="/ppt/media/image4.jpeg" Id="R91b72ceffa1b49a2" /><Relationship Type="http://schemas.openxmlformats.org/officeDocument/2006/relationships/notesSlide" Target="/ppt/notesSlides/notesSlide4.xml" Id="R4dbf91c011714a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a9bb8e4ea1467f" /><Relationship Type="http://schemas.openxmlformats.org/officeDocument/2006/relationships/image" Target="/ppt/media/image5.jpeg" Id="R9201f64f6f0c47df" /><Relationship Type="http://schemas.openxmlformats.org/officeDocument/2006/relationships/image" Target="/ppt/media/image6.jpeg" Id="R13acc7038a194f6c" /><Relationship Type="http://schemas.openxmlformats.org/officeDocument/2006/relationships/notesSlide" Target="/ppt/notesSlides/notesSlide5.xml" Id="Ra2563bf4623f42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8350b19f104449" /><Relationship Type="http://schemas.openxmlformats.org/officeDocument/2006/relationships/image" Target="/ppt/media/image7.jpeg" Id="R239d231093e347dd" /><Relationship Type="http://schemas.openxmlformats.org/officeDocument/2006/relationships/notesSlide" Target="/ppt/notesSlides/notesSlide6.xml" Id="R3d8b13de299b4d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1f24d6e84f4e1f" /><Relationship Type="http://schemas.openxmlformats.org/officeDocument/2006/relationships/image" Target="/ppt/media/image8.jpeg" Id="Rc1f98a72825f4bb2" /><Relationship Type="http://schemas.openxmlformats.org/officeDocument/2006/relationships/notesSlide" Target="/ppt/notesSlides/notesSlide7.xml" Id="Rb823d77a93f04e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ee8dc19abc4f44" /><Relationship Type="http://schemas.openxmlformats.org/officeDocument/2006/relationships/notesSlide" Target="/ppt/notesSlides/notesSlide8.xml" Id="R9e1f65c8cbaf4ef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020989483649b1" /><Relationship Type="http://schemas.openxmlformats.org/officeDocument/2006/relationships/notesSlide" Target="/ppt/notesSlides/notesSlide9.xml" Id="R92501cbefbc849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434f6f0ce94f69" /><Relationship Type="http://schemas.openxmlformats.org/officeDocument/2006/relationships/image" Target="/ppt/media/image9.jpeg" Id="Refe07424593a4cd3" /><Relationship Type="http://schemas.openxmlformats.org/officeDocument/2006/relationships/hyperlink" Target="https://github.com/Techathon-fufu/DormTopology.git" TargetMode="External" Id="R7e9e6c9ad5fc4ff0" /><Relationship Type="http://schemas.openxmlformats.org/officeDocument/2006/relationships/notesSlide" Target="/ppt/notesSlides/notesSlide10.xml" Id="R6ea68ed715eb4b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F9888-D2AE-427C-BB77-0F00026881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22c474efb490f"/>
          <a:stretch xmlns:a="http://schemas.openxmlformats.org/drawingml/2006/main"/>
        </p:blipFill>
        <p:spPr>
          <a:xfrm xmlns:a="http://schemas.openxmlformats.org/drawingml/2006/main">
            <a:off x="609600" y="590550"/>
            <a:ext cx="628650" cy="628650"/>
          </a:xfrm>
          <a:prstGeom xmlns:a="http://schemas.openxmlformats.org/drawingml/2006/main" prst="rect">
            <a:avLst/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7668360-7791-4D9B-980A-A92180F4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57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57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57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57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57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57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57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57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57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寝空拓扑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A09744D-B28F-48B9-96FC-03B0318E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28975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rPr>
              <a:t>DormTopology 3D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843738A-7CB1-4614-A75E-9CF846CA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先在屏幕里试一试。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3568336-70AB-48B4-9486-D4775621B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宿舍桌面的三维整理与理线工具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E8F82-3534-43E4-AD3E-EF3E779B6D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87b246b374aab"/>
          <a:srcRect xmlns:a="http://schemas.openxmlformats.org/drawingml/2006/main" l="11258" t="0" r="112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38800" y="981075"/>
            <a:ext cx="5943600" cy="4314825"/>
          </a:xfrm>
          <a:prstGeom xmlns:a="http://schemas.openxmlformats.org/drawingml/2006/main" prst="rect">
            <a:avLst/>
          </a:prstGeom>
        </p:spPr>
      </p:pic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F6B3FB79-FF76-418F-884C-015A8EE9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fufuuuuuu 团队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F8FB2BC3-BD03-4E00-956A-F0C41B2F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1912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产品展示   2026.10</a:t>
            </a:r>
          </a:p>
        </p:txBody>
      </p:sp>
    </p:spTree>
    <p:extLst>
      <p:ext uri="{BB962C8B-B14F-4D97-AF65-F5344CB8AC3E}">
        <p14:creationId xmlns:p14="http://schemas.microsoft.com/office/powerpoint/2010/main" val="20404130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E7B4EEF-8286-4706-8567-1616E4FA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桌面不大，牵动的却不少</a:t>
            </a:r>
          </a:p>
        </p:txBody>
      </p:sp>
      <p:sp>
        <p:nvSpPr>
          <p:cNvPr id="2" name="text-8">
            <a:extLst xmlns:a="http://schemas.openxmlformats.org/drawingml/2006/main">
              <a:ext uri="{FF2B5EF4-FFF2-40B4-BE49-F238E27FC236}">
                <a16:creationId xmlns:a16="http://schemas.microsoft.com/office/drawing/2014/main" id="{6B19D26A-28A6-44AF-8151-6F516C22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DormTopology 3D</a:t>
            </a:r>
          </a:p>
        </p:txBody>
      </p:sp>
      <p:sp>
        <p:nvSpPr>
          <p:cNvPr id="3" name="text-9">
            <a:extLst xmlns:a="http://schemas.openxmlformats.org/drawingml/2006/main">
              <a:ext uri="{FF2B5EF4-FFF2-40B4-BE49-F238E27FC236}">
                <a16:creationId xmlns:a16="http://schemas.microsoft.com/office/drawing/2014/main" id="{D3BF57D6-6887-411C-9420-88F694C8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438900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概念片画面  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63A13-4BE1-43A2-A322-2D0444FFC0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a83167a4843cc"/>
          <a:stretch xmlns:a="http://schemas.openxmlformats.org/drawingml/2006/main"/>
        </p:blipFill>
        <p:spPr>
          <a:xfrm xmlns:a="http://schemas.openxmlformats.org/drawingml/2006/main">
            <a:off x="609600" y="1504950"/>
            <a:ext cx="7239000" cy="4071938"/>
          </a:xfrm>
          <a:prstGeom xmlns:a="http://schemas.openxmlformats.org/drawingml/2006/main" prst="rect">
            <a:avLst/>
          </a:prstGeom>
        </p:spPr>
      </p:pic>
      <p:sp>
        <p:nvSpPr>
          <p:cNvPr id="5" name="text-10">
            <a:extLst xmlns:a="http://schemas.openxmlformats.org/drawingml/2006/main">
              <a:ext uri="{FF2B5EF4-FFF2-40B4-BE49-F238E27FC236}">
                <a16:creationId xmlns:a16="http://schemas.microsoft.com/office/drawing/2014/main" id="{FBBF482F-54A1-4E36-821C-86830175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0225"/>
            <a:ext cx="3219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显示器挪好了，</a:t>
            </a:r>
          </a:p>
          <a:p xmlns:a="http://schemas.openxmlformats.org/drawingml/2006/main">
            <a: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充电线够不到。</a:t>
            </a:r>
          </a:p>
        </p:txBody>
      </p:sp>
      <p:sp>
        <p:nvSpPr>
          <p:cNvPr id="6" name="text-11">
            <a:extLst xmlns:a="http://schemas.openxmlformats.org/drawingml/2006/main">
              <a:ext uri="{FF2B5EF4-FFF2-40B4-BE49-F238E27FC236}">
                <a16:creationId xmlns:a16="http://schemas.microsoft.com/office/drawing/2014/main" id="{B81E24FF-55BD-4C24-8B42-5F491AE6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71850"/>
            <a:ext cx="32194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小物件收好了，</a:t>
            </a:r>
          </a:p>
          <a:p xmlns:a="http://schemas.openxmlformats.org/drawingml/2006/main">
            <a: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抽屉又拉不开。</a:t>
            </a:r>
          </a:p>
        </p:txBody>
      </p:sp>
      <p:sp>
        <p:nvSpPr>
          <p:cNvPr id="7" name="text-12">
            <a:extLst xmlns:a="http://schemas.openxmlformats.org/drawingml/2006/main">
              <a:ext uri="{FF2B5EF4-FFF2-40B4-BE49-F238E27FC236}">
                <a16:creationId xmlns:a16="http://schemas.microsoft.com/office/drawing/2014/main" id="{6E5682C3-57F9-4584-AE1D-906E82C1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95875"/>
            <a:ext cx="3219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整理之前，先看清彼此的影响。</a:t>
            </a:r>
          </a:p>
        </p:txBody>
      </p:sp>
    </p:spTree>
    <p:extLst>
      <p:ext uri="{BB962C8B-B14F-4D97-AF65-F5344CB8AC3E}">
        <p14:creationId xmlns:p14="http://schemas.microsoft.com/office/powerpoint/2010/main" val="15510620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3">
            <a:extLst xmlns:a="http://schemas.openxmlformats.org/drawingml/2006/main">
              <a:ext uri="{FF2B5EF4-FFF2-40B4-BE49-F238E27FC236}">
                <a16:creationId xmlns:a16="http://schemas.microsoft.com/office/drawing/2014/main" id="{04A024D2-559A-4A00-841C-26A052F8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搭起自己的桌面</a:t>
            </a:r>
          </a:p>
        </p:txBody>
      </p:sp>
      <p:sp>
        <p:nvSpPr>
          <p:cNvPr id="2" name="text-14">
            <a:extLst xmlns:a="http://schemas.openxmlformats.org/drawingml/2006/main">
              <a:ext uri="{FF2B5EF4-FFF2-40B4-BE49-F238E27FC236}">
                <a16:creationId xmlns:a16="http://schemas.microsoft.com/office/drawing/2014/main" id="{85873312-58DB-4802-9464-AD348D8D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DormTopology 3D</a:t>
            </a:r>
          </a:p>
        </p:txBody>
      </p:sp>
      <p:sp>
        <p:nvSpPr>
          <p:cNvPr id="3" name="text-15">
            <a:extLst xmlns:a="http://schemas.openxmlformats.org/drawingml/2006/main">
              <a:ext uri="{FF2B5EF4-FFF2-40B4-BE49-F238E27FC236}">
                <a16:creationId xmlns:a16="http://schemas.microsoft.com/office/drawing/2014/main" id="{88B42B80-54A3-4CB0-A392-A431FD3C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438900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概念片画面  03</a:t>
            </a:r>
          </a:p>
        </p:txBody>
      </p:sp>
      <p:sp>
        <p:nvSpPr>
          <p:cNvPr id="4" name="text-16">
            <a:extLst xmlns:a="http://schemas.openxmlformats.org/drawingml/2006/main">
              <a:ext uri="{FF2B5EF4-FFF2-40B4-BE49-F238E27FC236}">
                <a16:creationId xmlns:a16="http://schemas.microsoft.com/office/drawing/2014/main" id="{2A337DEC-0BBA-4F58-9496-50C841A9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从物品库开始</a:t>
            </a:r>
          </a:p>
        </p:txBody>
      </p:sp>
      <p:sp>
        <p:nvSpPr>
          <p:cNvPr id="5" name="text-17">
            <a:extLst xmlns:a="http://schemas.openxmlformats.org/drawingml/2006/main">
              <a:ext uri="{FF2B5EF4-FFF2-40B4-BE49-F238E27FC236}">
                <a16:creationId xmlns:a16="http://schemas.microsoft.com/office/drawing/2014/main" id="{F09630E8-3423-4B0F-B306-79F8E66D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400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挑选常用物品，也能自己添加。</a:t>
            </a:r>
          </a:p>
        </p:txBody>
      </p:sp>
      <p:sp>
        <p:nvSpPr>
          <p:cNvPr id="6" name="text-18">
            <a:extLst xmlns:a="http://schemas.openxmlformats.org/drawingml/2006/main">
              <a:ext uri="{FF2B5EF4-FFF2-40B4-BE49-F238E27FC236}">
                <a16:creationId xmlns:a16="http://schemas.microsoft.com/office/drawing/2014/main" id="{F615880E-7A7F-49D9-8C84-1D63781C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在三维空间里边看边改</a:t>
            </a:r>
          </a:p>
        </p:txBody>
      </p:sp>
      <p:sp>
        <p:nvSpPr>
          <p:cNvPr id="7" name="text-19">
            <a:extLst xmlns:a="http://schemas.openxmlformats.org/drawingml/2006/main">
              <a:ext uri="{FF2B5EF4-FFF2-40B4-BE49-F238E27FC236}">
                <a16:creationId xmlns:a16="http://schemas.microsoft.com/office/drawing/2014/main" id="{DE37234C-F2CC-4814-A8D2-7E61F5D1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移动、旋转、缩放，</a:t>
            </a:r>
          </a:p>
          <a:p xmlns:a="http://schemas.openxmlformats.org/drawingml/2006/main">
            <a: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不合适就撤销。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32C83-D61B-4BF4-BA77-B0442C86EB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f8d15e4604cda"/>
          <a:stretch xmlns:a="http://schemas.openxmlformats.org/drawingml/2006/main"/>
        </p:blipFill>
        <p:spPr>
          <a:xfrm xmlns:a="http://schemas.openxmlformats.org/drawingml/2006/main">
            <a:off x="5191125" y="1657648"/>
            <a:ext cx="6391275" cy="3595092"/>
          </a:xfrm>
          <a:prstGeom xmlns:a="http://schemas.openxmlformats.org/drawingml/2006/main" prst="rect">
            <a:avLst/>
          </a:prstGeom>
        </p:spPr>
      </p:pic>
      <p:sp>
        <p:nvSpPr>
          <p:cNvPr id="9" name="text-20">
            <a:extLst xmlns:a="http://schemas.openxmlformats.org/drawingml/2006/main">
              <a:ext uri="{FF2B5EF4-FFF2-40B4-BE49-F238E27FC236}">
                <a16:creationId xmlns:a16="http://schemas.microsoft.com/office/drawing/2014/main" id="{64F757EA-14F8-4BF6-8E0D-ED5098DF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尺寸由用户确认，摆放才有可靠的依据。</a:t>
            </a:r>
          </a:p>
        </p:txBody>
      </p:sp>
    </p:spTree>
    <p:extLst>
      <p:ext uri="{BB962C8B-B14F-4D97-AF65-F5344CB8AC3E}">
        <p14:creationId xmlns:p14="http://schemas.microsoft.com/office/powerpoint/2010/main" val="2164306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536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1">
            <a:extLst xmlns:a="http://schemas.openxmlformats.org/drawingml/2006/main">
              <a:ext uri="{FF2B5EF4-FFF2-40B4-BE49-F238E27FC236}">
                <a16:creationId xmlns:a16="http://schemas.microsoft.com/office/drawing/2014/main" id="{E36C1854-0CDB-4B4C-83DD-9018B967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rPr>
              <a:t>整理方案，先预览再决定</a:t>
            </a:r>
          </a:p>
        </p:txBody>
      </p:sp>
      <p:sp>
        <p:nvSpPr>
          <p:cNvPr id="2" name="text-22">
            <a:extLst xmlns:a="http://schemas.openxmlformats.org/drawingml/2006/main">
              <a:ext uri="{FF2B5EF4-FFF2-40B4-BE49-F238E27FC236}">
                <a16:creationId xmlns:a16="http://schemas.microsoft.com/office/drawing/2014/main" id="{3165DD27-CFA0-476B-A8CA-F6817B5D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rPr>
              <a:t>DormTopology 3D</a:t>
            </a:r>
          </a:p>
        </p:txBody>
      </p:sp>
      <p:sp>
        <p:nvSpPr>
          <p:cNvPr id="3" name="text-23">
            <a:extLst xmlns:a="http://schemas.openxmlformats.org/drawingml/2006/main">
              <a:ext uri="{FF2B5EF4-FFF2-40B4-BE49-F238E27FC236}">
                <a16:creationId xmlns:a16="http://schemas.microsoft.com/office/drawing/2014/main" id="{7B1C41F6-F2D3-49FB-B100-F8B0948B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438900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rPr>
              <a:t>概念片画面  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B55E2-DC5D-43AE-A161-C874246A5D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b72ceffa1b49a2"/>
          <a:stretch xmlns:a="http://schemas.openxmlformats.org/drawingml/2006/main"/>
        </p:blipFill>
        <p:spPr>
          <a:xfrm xmlns:a="http://schemas.openxmlformats.org/drawingml/2006/main">
            <a:off x="609600" y="1600200"/>
            <a:ext cx="7086600" cy="3986213"/>
          </a:xfrm>
          <a:prstGeom xmlns:a="http://schemas.openxmlformats.org/drawingml/2006/main" prst="rect">
            <a:avLst/>
          </a:prstGeom>
        </p:spPr>
      </p:pic>
      <p:sp>
        <p:nvSpPr>
          <p:cNvPr id="5" name="text-24">
            <a:extLst xmlns:a="http://schemas.openxmlformats.org/drawingml/2006/main">
              <a:ext uri="{FF2B5EF4-FFF2-40B4-BE49-F238E27FC236}">
                <a16:creationId xmlns:a16="http://schemas.microsoft.com/office/drawing/2014/main" id="{963ACE44-7E30-4B38-B2EE-47FD9B59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90700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rPr>
              <a:t>放得下，也用得顺</a:t>
            </a:r>
          </a:p>
        </p:txBody>
      </p:sp>
      <p:sp>
        <p:nvSpPr>
          <p:cNvPr id="6" name="text-25">
            <a:extLst xmlns:a="http://schemas.openxmlformats.org/drawingml/2006/main">
              <a:ext uri="{FF2B5EF4-FFF2-40B4-BE49-F238E27FC236}">
                <a16:creationId xmlns:a16="http://schemas.microsoft.com/office/drawing/2014/main" id="{E40D0997-B533-4830-A726-D0FA0036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33650"/>
            <a:ext cx="3409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rPr>
              <a:t>检查边界、碰撞、支撑与层高，</a:t>
            </a:r>
          </a:p>
          <a:p xmlns:a="http://schemas.openxmlformats.org/drawingml/2006/main">
            <a:pPr>
              <a:def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rPr>
              <a:t>为抽屉开口和滑出路径留空间。</a:t>
            </a:r>
          </a:p>
        </p:txBody>
      </p:sp>
      <p:sp>
        <p:nvSpPr>
          <p:cNvPr id="7" name="text-26">
            <a:extLst xmlns:a="http://schemas.openxmlformats.org/drawingml/2006/main">
              <a:ext uri="{FF2B5EF4-FFF2-40B4-BE49-F238E27FC236}">
                <a16:creationId xmlns:a16="http://schemas.microsoft.com/office/drawing/2014/main" id="{45AF634A-3164-4E3A-8DD0-B0EFC738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57675"/>
            <a:ext cx="3409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rPr>
              <a:t>决定权留给用户</a:t>
            </a:r>
          </a:p>
        </p:txBody>
      </p:sp>
      <p:sp>
        <p:nvSpPr>
          <p:cNvPr id="8" name="text-27">
            <a:extLst xmlns:a="http://schemas.openxmlformats.org/drawingml/2006/main">
              <a:ext uri="{FF2B5EF4-FFF2-40B4-BE49-F238E27FC236}">
                <a16:creationId xmlns:a16="http://schemas.microsoft.com/office/drawing/2014/main" id="{FEE8D31C-4F1D-4720-9AEA-C1DFC277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981575"/>
            <a:ext cx="3409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rPr>
              <a:t>看过方案再采用，</a:t>
            </a:r>
          </a:p>
          <a:p xmlns:a="http://schemas.openxmlformats.org/drawingml/2006/main">
            <a:pPr>
              <a:def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rPr>
              <a:t>有冲突就说明原因。</a:t>
            </a:r>
          </a:p>
        </p:txBody>
      </p:sp>
    </p:spTree>
    <p:extLst>
      <p:ext uri="{BB962C8B-B14F-4D97-AF65-F5344CB8AC3E}">
        <p14:creationId xmlns:p14="http://schemas.microsoft.com/office/powerpoint/2010/main" val="14612764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28">
            <a:extLst xmlns:a="http://schemas.openxmlformats.org/drawingml/2006/main">
              <a:ext uri="{FF2B5EF4-FFF2-40B4-BE49-F238E27FC236}">
                <a16:creationId xmlns:a16="http://schemas.microsoft.com/office/drawing/2014/main" id="{A76E8CC4-D03E-40F3-B782-4043F719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设备摆好了，线也要有去处</a:t>
            </a:r>
          </a:p>
        </p:txBody>
      </p:sp>
      <p:sp>
        <p:nvSpPr>
          <p:cNvPr id="2" name="text-29">
            <a:extLst xmlns:a="http://schemas.openxmlformats.org/drawingml/2006/main">
              <a:ext uri="{FF2B5EF4-FFF2-40B4-BE49-F238E27FC236}">
                <a16:creationId xmlns:a16="http://schemas.microsoft.com/office/drawing/2014/main" id="{88459F15-E958-4D2A-BA77-40216E0A0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DormTopology 3D</a:t>
            </a:r>
          </a:p>
        </p:txBody>
      </p:sp>
      <p:sp>
        <p:nvSpPr>
          <p:cNvPr id="3" name="text-30">
            <a:extLst xmlns:a="http://schemas.openxmlformats.org/drawingml/2006/main">
              <a:ext uri="{FF2B5EF4-FFF2-40B4-BE49-F238E27FC236}">
                <a16:creationId xmlns:a16="http://schemas.microsoft.com/office/drawing/2014/main" id="{93C2AD9B-EEB7-4B3F-873A-345AFAAC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438900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概念片画面  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234DB5-1554-4F36-81C6-374DF4450D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1f64f6f0c47df"/>
          <a:stretch xmlns:a="http://schemas.openxmlformats.org/drawingml/2006/main"/>
        </p:blipFill>
        <p:spPr>
          <a:xfrm xmlns:a="http://schemas.openxmlformats.org/drawingml/2006/main">
            <a:off x="609600" y="1581150"/>
            <a:ext cx="5257800" cy="2957513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96C54-F9A5-45DD-9F99-A26257F903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cc7038a194f6c"/>
          <a:stretch xmlns:a="http://schemas.openxmlformats.org/drawingml/2006/main"/>
        </p:blipFill>
        <p:spPr>
          <a:xfrm xmlns:a="http://schemas.openxmlformats.org/drawingml/2006/main">
            <a:off x="6324600" y="1581150"/>
            <a:ext cx="5257800" cy="2957513"/>
          </a:xfrm>
          <a:prstGeom xmlns:a="http://schemas.openxmlformats.org/drawingml/2006/main" prst="rect">
            <a:avLst/>
          </a:prstGeom>
        </p:spPr>
      </p:pic>
      <p:sp>
        <p:nvSpPr>
          <p:cNvPr id="6" name="text-31">
            <a:extLst xmlns:a="http://schemas.openxmlformats.org/drawingml/2006/main">
              <a:ext uri="{FF2B5EF4-FFF2-40B4-BE49-F238E27FC236}">
                <a16:creationId xmlns:a16="http://schemas.microsoft.com/office/drawing/2014/main" id="{A9A59E5E-20C6-4479-A91C-7291A9AC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525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连接关系看得清</a:t>
            </a:r>
          </a:p>
        </p:txBody>
      </p:sp>
      <p:sp>
        <p:nvSpPr>
          <p:cNvPr id="7" name="text-32">
            <a:extLst xmlns:a="http://schemas.openxmlformats.org/drawingml/2006/main">
              <a:ext uri="{FF2B5EF4-FFF2-40B4-BE49-F238E27FC236}">
                <a16:creationId xmlns:a16="http://schemas.microsoft.com/office/drawing/2014/main" id="{1D4598D9-15F4-4CFD-90C7-C558817B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525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标记接口，确认每根线连向哪里。</a:t>
            </a:r>
          </a:p>
        </p:txBody>
      </p:sp>
      <p:sp>
        <p:nvSpPr>
          <p:cNvPr id="8" name="text-33">
            <a:extLst xmlns:a="http://schemas.openxmlformats.org/drawingml/2006/main">
              <a:ext uri="{FF2B5EF4-FFF2-40B4-BE49-F238E27FC236}">
                <a16:creationId xmlns:a16="http://schemas.microsoft.com/office/drawing/2014/main" id="{0282FFAE-0144-45AA-9F8B-ED5C4638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67275"/>
            <a:ext cx="525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走线路径一起考虑</a:t>
            </a:r>
          </a:p>
        </p:txBody>
      </p:sp>
      <p:sp>
        <p:nvSpPr>
          <p:cNvPr id="9" name="text-34">
            <a:extLst xmlns:a="http://schemas.openxmlformats.org/drawingml/2006/main">
              <a:ext uri="{FF2B5EF4-FFF2-40B4-BE49-F238E27FC236}">
                <a16:creationId xmlns:a16="http://schemas.microsoft.com/office/drawing/2014/main" id="{CB4790F1-DD36-4E1D-96DE-2D119147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14975"/>
            <a:ext cx="525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结合障碍与线长检查，不可行就反馈。</a:t>
            </a:r>
          </a:p>
        </p:txBody>
      </p:sp>
    </p:spTree>
    <p:extLst>
      <p:ext uri="{BB962C8B-B14F-4D97-AF65-F5344CB8AC3E}">
        <p14:creationId xmlns:p14="http://schemas.microsoft.com/office/powerpoint/2010/main" val="21380342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35">
            <a:extLst xmlns:a="http://schemas.openxmlformats.org/drawingml/2006/main">
              <a:ext uri="{FF2B5EF4-FFF2-40B4-BE49-F238E27FC236}">
                <a16:creationId xmlns:a16="http://schemas.microsoft.com/office/drawing/2014/main" id="{5B0D26DF-E9F2-4326-AB21-7FD237B3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照片建模，让场景更像自己的</a:t>
            </a:r>
          </a:p>
        </p:txBody>
      </p:sp>
      <p:sp>
        <p:nvSpPr>
          <p:cNvPr id="2" name="text-36">
            <a:extLst xmlns:a="http://schemas.openxmlformats.org/drawingml/2006/main">
              <a:ext uri="{FF2B5EF4-FFF2-40B4-BE49-F238E27FC236}">
                <a16:creationId xmlns:a16="http://schemas.microsoft.com/office/drawing/2014/main" id="{66578BAA-5BAB-4C74-BC99-3B48C93B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DormTopology 3D</a:t>
            </a:r>
          </a:p>
        </p:txBody>
      </p:sp>
      <p:sp>
        <p:nvSpPr>
          <p:cNvPr id="3" name="text-37">
            <a:extLst xmlns:a="http://schemas.openxmlformats.org/drawingml/2006/main">
              <a:ext uri="{FF2B5EF4-FFF2-40B4-BE49-F238E27FC236}">
                <a16:creationId xmlns:a16="http://schemas.microsoft.com/office/drawing/2014/main" id="{448802E3-D13C-4674-B3D1-4D486FCD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438900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概念片画面  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7B424-0BA7-4272-A561-E6A6A26C16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d231093e347dd"/>
          <a:stretch xmlns:a="http://schemas.openxmlformats.org/drawingml/2006/main"/>
        </p:blipFill>
        <p:spPr>
          <a:xfrm xmlns:a="http://schemas.openxmlformats.org/drawingml/2006/main">
            <a:off x="609600" y="1666875"/>
            <a:ext cx="5715000" cy="3214688"/>
          </a:xfrm>
          <a:prstGeom xmlns:a="http://schemas.openxmlformats.org/drawingml/2006/main" prst="rect">
            <a:avLst/>
          </a:prstGeom>
        </p:spPr>
      </p:pic>
      <p:sp>
        <p:nvSpPr>
          <p:cNvPr id="5" name="text-38">
            <a:extLst xmlns:a="http://schemas.openxmlformats.org/drawingml/2006/main">
              <a:ext uri="{FF2B5EF4-FFF2-40B4-BE49-F238E27FC236}">
                <a16:creationId xmlns:a16="http://schemas.microsoft.com/office/drawing/2014/main" id="{6258CEE2-7CEE-41BF-B517-3533B9C0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桌面场地</a:t>
            </a:r>
          </a:p>
        </p:txBody>
      </p:sp>
      <p:sp>
        <p:nvSpPr>
          <p:cNvPr id="6" name="text-39">
            <a:extLst xmlns:a="http://schemas.openxmlformats.org/drawingml/2006/main">
              <a:ext uri="{FF2B5EF4-FFF2-40B4-BE49-F238E27FC236}">
                <a16:creationId xmlns:a16="http://schemas.microsoft.com/office/drawing/2014/main" id="{7781E09C-2551-4DB2-B9F2-89DA0E35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9800"/>
            <a:ext cx="4724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当前为演示流程，</a:t>
            </a:r>
          </a:p>
          <a:p xmlns:a="http://schemas.openxmlformats.org/drawingml/2006/main">
            <a: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真实场地模型接入待完成。</a:t>
            </a:r>
          </a:p>
        </p:txBody>
      </p:sp>
      <p:sp>
        <p:nvSpPr>
          <p:cNvPr id="7" name="text-40">
            <a:extLst xmlns:a="http://schemas.openxmlformats.org/drawingml/2006/main">
              <a:ext uri="{FF2B5EF4-FFF2-40B4-BE49-F238E27FC236}">
                <a16:creationId xmlns:a16="http://schemas.microsoft.com/office/drawing/2014/main" id="{86ECC2EC-BAFC-4665-8C52-05A95CF0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71875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单件物品</a:t>
            </a:r>
          </a:p>
        </p:txBody>
      </p:sp>
      <p:sp>
        <p:nvSpPr>
          <p:cNvPr id="8" name="text-41">
            <a:extLst xmlns:a="http://schemas.openxmlformats.org/drawingml/2006/main">
              <a:ext uri="{FF2B5EF4-FFF2-40B4-BE49-F238E27FC236}">
                <a16:creationId xmlns:a16="http://schemas.microsoft.com/office/drawing/2014/main" id="{528153EE-CD2C-4BE9-A6C5-EA9D17BF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62425"/>
            <a:ext cx="4724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已接入 Rodin AI，</a:t>
            </a:r>
          </a:p>
          <a:p xmlns:a="http://schemas.openxmlformats.org/drawingml/2006/main">
            <a:pPr>
              <a:def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完成账户认证与本地流程检查。</a:t>
            </a:r>
          </a:p>
        </p:txBody>
      </p:sp>
      <p:sp>
        <p:nvSpPr>
          <p:cNvPr id="9" name="text-42">
            <a:extLst xmlns:a="http://schemas.openxmlformats.org/drawingml/2006/main">
              <a:ext uri="{FF2B5EF4-FFF2-40B4-BE49-F238E27FC236}">
                <a16:creationId xmlns:a16="http://schemas.microsoft.com/office/drawing/2014/main" id="{1B1CE131-DDFF-4CEB-A21A-85D1F53E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单件模型的付费生成、下载与显示，尚未完成完整实测。</a:t>
            </a:r>
          </a:p>
        </p:txBody>
      </p:sp>
    </p:spTree>
    <p:extLst>
      <p:ext uri="{BB962C8B-B14F-4D97-AF65-F5344CB8AC3E}">
        <p14:creationId xmlns:p14="http://schemas.microsoft.com/office/powerpoint/2010/main" val="7908085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3">
            <a:extLst xmlns:a="http://schemas.openxmlformats.org/drawingml/2006/main">
              <a:ext uri="{FF2B5EF4-FFF2-40B4-BE49-F238E27FC236}">
                <a16:creationId xmlns:a16="http://schemas.microsoft.com/office/drawing/2014/main" id="{FBAC383F-F11E-457C-B9DC-5F62CFB13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看清变化，再动手</a:t>
            </a:r>
          </a:p>
        </p:txBody>
      </p:sp>
      <p:sp>
        <p:nvSpPr>
          <p:cNvPr id="2" name="text-44">
            <a:extLst xmlns:a="http://schemas.openxmlformats.org/drawingml/2006/main">
              <a:ext uri="{FF2B5EF4-FFF2-40B4-BE49-F238E27FC236}">
                <a16:creationId xmlns:a16="http://schemas.microsoft.com/office/drawing/2014/main" id="{BD011DEC-8C41-4DDF-8CB6-70293CA7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DormTopology 3D</a:t>
            </a:r>
          </a:p>
        </p:txBody>
      </p:sp>
      <p:sp>
        <p:nvSpPr>
          <p:cNvPr id="3" name="text-45">
            <a:extLst xmlns:a="http://schemas.openxmlformats.org/drawingml/2006/main">
              <a:ext uri="{FF2B5EF4-FFF2-40B4-BE49-F238E27FC236}">
                <a16:creationId xmlns:a16="http://schemas.microsoft.com/office/drawing/2014/main" id="{C1A4D9CB-2CE8-439A-B61A-6A9C3253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438900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概念片画面  07</a:t>
            </a:r>
          </a:p>
        </p:txBody>
      </p:sp>
      <p:sp>
        <p:nvSpPr>
          <p:cNvPr id="4" name="text-46">
            <a:extLst xmlns:a="http://schemas.openxmlformats.org/drawingml/2006/main">
              <a:ext uri="{FF2B5EF4-FFF2-40B4-BE49-F238E27FC236}">
                <a16:creationId xmlns:a16="http://schemas.microsoft.com/office/drawing/2014/main" id="{9F2C5545-BAA0-4CC5-B2D5-5DB72EE8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整理动画</a:t>
            </a:r>
          </a:p>
        </p:txBody>
      </p:sp>
      <p:sp>
        <p:nvSpPr>
          <p:cNvPr id="5" name="text-47">
            <a:extLst xmlns:a="http://schemas.openxmlformats.org/drawingml/2006/main">
              <a:ext uri="{FF2B5EF4-FFF2-40B4-BE49-F238E27FC236}">
                <a16:creationId xmlns:a16="http://schemas.microsoft.com/office/drawing/2014/main" id="{6A1F0C8E-C20A-46F3-B924-4F570CCA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400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把调整过程演示出来，</a:t>
            </a:r>
          </a:p>
          <a:p xmlns:a="http://schemas.openxmlformats.org/drawingml/2006/main">
            <a: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跟着一步步整理。</a:t>
            </a:r>
          </a:p>
        </p:txBody>
      </p:sp>
      <p:sp>
        <p:nvSpPr>
          <p:cNvPr id="6" name="text-48">
            <a:extLst xmlns:a="http://schemas.openxmlformats.org/drawingml/2006/main">
              <a:ext uri="{FF2B5EF4-FFF2-40B4-BE49-F238E27FC236}">
                <a16:creationId xmlns:a16="http://schemas.microsoft.com/office/drawing/2014/main" id="{5B87B4AF-FBE9-48A6-AC41-3274B623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前后对比</a:t>
            </a:r>
          </a:p>
        </p:txBody>
      </p:sp>
      <p:sp>
        <p:nvSpPr>
          <p:cNvPr id="7" name="text-49">
            <a:extLst xmlns:a="http://schemas.openxmlformats.org/drawingml/2006/main">
              <a:ext uri="{FF2B5EF4-FFF2-40B4-BE49-F238E27FC236}">
                <a16:creationId xmlns:a16="http://schemas.microsoft.com/office/drawing/2014/main" id="{F40461D4-819B-48A4-B5ED-0320CDBD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400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看清具体挪了什么，</a:t>
            </a:r>
          </a:p>
          <a:p xmlns:a="http://schemas.openxmlformats.org/drawingml/2006/main">
            <a:pPr>
              <a:def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再决定是否保留。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BCCDFE-9367-4C92-9B30-05A08438BA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98a72825f4bb2"/>
          <a:stretch xmlns:a="http://schemas.openxmlformats.org/drawingml/2006/main"/>
        </p:blipFill>
        <p:spPr>
          <a:xfrm xmlns:a="http://schemas.openxmlformats.org/drawingml/2006/main">
            <a:off x="5096404" y="1676400"/>
            <a:ext cx="6485467" cy="3648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8647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50">
            <a:extLst xmlns:a="http://schemas.openxmlformats.org/drawingml/2006/main">
              <a:ext uri="{FF2B5EF4-FFF2-40B4-BE49-F238E27FC236}">
                <a16:creationId xmlns:a16="http://schemas.microsoft.com/office/drawing/2014/main" id="{75450EFC-C2A2-4DDF-9E44-44A9E248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当前原型</a:t>
            </a:r>
          </a:p>
        </p:txBody>
      </p:sp>
      <p:sp>
        <p:nvSpPr>
          <p:cNvPr id="2" name="text-51">
            <a:extLst xmlns:a="http://schemas.openxmlformats.org/drawingml/2006/main">
              <a:ext uri="{FF2B5EF4-FFF2-40B4-BE49-F238E27FC236}">
                <a16:creationId xmlns:a16="http://schemas.microsoft.com/office/drawing/2014/main" id="{99F6C2C1-1E22-4007-A245-6EA97921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DormTopology 3D</a:t>
            </a:r>
          </a:p>
        </p:txBody>
      </p:sp>
      <p:sp>
        <p:nvSpPr>
          <p:cNvPr id="3" name="text-52">
            <a:extLst xmlns:a="http://schemas.openxmlformats.org/drawingml/2006/main">
              <a:ext uri="{FF2B5EF4-FFF2-40B4-BE49-F238E27FC236}">
                <a16:creationId xmlns:a16="http://schemas.microsoft.com/office/drawing/2014/main" id="{BB3EE8BB-50B5-41ED-A2E6-97258F1E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438900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text-53">
            <a:extLst xmlns:a="http://schemas.openxmlformats.org/drawingml/2006/main">
              <a:ext uri="{FF2B5EF4-FFF2-40B4-BE49-F238E27FC236}">
                <a16:creationId xmlns:a16="http://schemas.microsoft.com/office/drawing/2014/main" id="{2BAA2A7F-4375-4424-95DB-6C97B18C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rPr>
              <a:t>已经可以体验</a:t>
            </a:r>
          </a:p>
        </p:txBody>
      </p:sp>
      <p:sp>
        <p:nvSpPr>
          <p:cNvPr id="5" name="text-54">
            <a:extLst xmlns:a="http://schemas.openxmlformats.org/drawingml/2006/main">
              <a:ext uri="{FF2B5EF4-FFF2-40B4-BE49-F238E27FC236}">
                <a16:creationId xmlns:a16="http://schemas.microsoft.com/office/drawing/2014/main" id="{F45569A5-8B14-4EB5-B704-5F094F15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物品库与三维编辑</a:t>
            </a:r>
          </a:p>
        </p:txBody>
      </p:sp>
      <p:sp>
        <p:nvSpPr>
          <p:cNvPr id="6" name="text-55">
            <a:extLst xmlns:a="http://schemas.openxmlformats.org/drawingml/2006/main">
              <a:ext uri="{FF2B5EF4-FFF2-40B4-BE49-F238E27FC236}">
                <a16:creationId xmlns:a16="http://schemas.microsoft.com/office/drawing/2014/main" id="{33CCBA8C-87A8-4240-A0E2-C7F62E00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整理预览与走线规划</a:t>
            </a:r>
          </a:p>
        </p:txBody>
      </p:sp>
      <p:sp>
        <p:nvSpPr>
          <p:cNvPr id="7" name="text-56">
            <a:extLst xmlns:a="http://schemas.openxmlformats.org/drawingml/2006/main">
              <a:ext uri="{FF2B5EF4-FFF2-40B4-BE49-F238E27FC236}">
                <a16:creationId xmlns:a16="http://schemas.microsoft.com/office/drawing/2014/main" id="{D9EADCED-A53F-4109-824A-5B54B11F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整理动画与前后对比</a:t>
            </a:r>
          </a:p>
        </p:txBody>
      </p:sp>
      <p:sp>
        <p:nvSpPr>
          <p:cNvPr id="8" name="text-57">
            <a:extLst xmlns:a="http://schemas.openxmlformats.org/drawingml/2006/main">
              <a:ext uri="{FF2B5EF4-FFF2-40B4-BE49-F238E27FC236}">
                <a16:creationId xmlns:a16="http://schemas.microsoft.com/office/drawing/2014/main" id="{880751FA-1D3D-4466-B11F-B8386CA1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28775"/>
            <a:ext cx="4876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6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6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6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6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6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6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6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6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6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继续打磨的部分</a:t>
            </a:r>
          </a:p>
        </p:txBody>
      </p:sp>
      <p:sp>
        <p:nvSpPr>
          <p:cNvPr id="9" name="text-58">
            <a:extLst xmlns:a="http://schemas.openxmlformats.org/drawingml/2006/main">
              <a:ext uri="{FF2B5EF4-FFF2-40B4-BE49-F238E27FC236}">
                <a16:creationId xmlns:a16="http://schemas.microsoft.com/office/drawing/2014/main" id="{2D153454-E295-4435-9E15-B8DEA6CD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81275"/>
            <a:ext cx="487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复杂场景的约束与异常处理</a:t>
            </a:r>
          </a:p>
        </p:txBody>
      </p:sp>
      <p:sp>
        <p:nvSpPr>
          <p:cNvPr id="10" name="text-59">
            <a:extLst xmlns:a="http://schemas.openxmlformats.org/drawingml/2006/main">
              <a:ext uri="{FF2B5EF4-FFF2-40B4-BE49-F238E27FC236}">
                <a16:creationId xmlns:a16="http://schemas.microsoft.com/office/drawing/2014/main" id="{2F4B5FA8-2FDF-4C7A-83B2-29FDF26F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487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个别接线路径的调试</a:t>
            </a:r>
          </a:p>
        </p:txBody>
      </p:sp>
      <p:sp>
        <p:nvSpPr>
          <p:cNvPr id="11" name="text-60">
            <a:extLst xmlns:a="http://schemas.openxmlformats.org/drawingml/2006/main">
              <a:ext uri="{FF2B5EF4-FFF2-40B4-BE49-F238E27FC236}">
                <a16:creationId xmlns:a16="http://schemas.microsoft.com/office/drawing/2014/main" id="{52FFDA53-2EFF-4D34-9350-0F2AB3BF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24325"/>
            <a:ext cx="4876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场地建模接入与单件生成实测</a:t>
            </a:r>
          </a:p>
        </p:txBody>
      </p:sp>
      <p:sp>
        <p:nvSpPr>
          <p:cNvPr id="12" name="text-61">
            <a:extLst xmlns:a="http://schemas.openxmlformats.org/drawingml/2006/main">
              <a:ext uri="{FF2B5EF4-FFF2-40B4-BE49-F238E27FC236}">
                <a16:creationId xmlns:a16="http://schemas.microsoft.com/office/drawing/2014/main" id="{7574C4AD-5B46-45CC-A9F9-8A62CE35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面向桌面浏览器的比赛原型，正在持续完善。</a:t>
            </a:r>
          </a:p>
        </p:txBody>
      </p:sp>
    </p:spTree>
    <p:extLst>
      <p:ext uri="{BB962C8B-B14F-4D97-AF65-F5344CB8AC3E}">
        <p14:creationId xmlns:p14="http://schemas.microsoft.com/office/powerpoint/2010/main" val="7004239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536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62">
            <a:extLst xmlns:a="http://schemas.openxmlformats.org/drawingml/2006/main">
              <a:ext uri="{FF2B5EF4-FFF2-40B4-BE49-F238E27FC236}">
                <a16:creationId xmlns:a16="http://schemas.microsoft.com/office/drawing/2014/main" id="{4683AB4F-BDA9-43F8-9E17-E254CEB0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rPr>
              <a:t>fufuuuuuu 团队</a:t>
            </a:r>
          </a:p>
        </p:txBody>
      </p:sp>
      <p:sp>
        <p:nvSpPr>
          <p:cNvPr id="2" name="text-63">
            <a:extLst xmlns:a="http://schemas.openxmlformats.org/drawingml/2006/main">
              <a:ext uri="{FF2B5EF4-FFF2-40B4-BE49-F238E27FC236}">
                <a16:creationId xmlns:a16="http://schemas.microsoft.com/office/drawing/2014/main" id="{803FE1E5-164F-4FD1-8E06-A24564EF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rPr>
              <a:t>DormTopology 3D</a:t>
            </a:r>
          </a:p>
        </p:txBody>
      </p:sp>
      <p:sp>
        <p:nvSpPr>
          <p:cNvPr id="3" name="text-64">
            <a:extLst xmlns:a="http://schemas.openxmlformats.org/drawingml/2006/main">
              <a:ext uri="{FF2B5EF4-FFF2-40B4-BE49-F238E27FC236}">
                <a16:creationId xmlns:a16="http://schemas.microsoft.com/office/drawing/2014/main" id="{477C433B-4012-4BEE-8CF6-202DD09A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438900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text-65">
            <a:extLst xmlns:a="http://schemas.openxmlformats.org/drawingml/2006/main">
              <a:ext uri="{FF2B5EF4-FFF2-40B4-BE49-F238E27FC236}">
                <a16:creationId xmlns:a16="http://schemas.microsoft.com/office/drawing/2014/main" id="{72E386D3-C6BF-4BF3-B3F0-4B9B1DAB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rPr>
              <a:t>付运杰</a:t>
            </a:r>
          </a:p>
        </p:txBody>
      </p:sp>
      <p:sp>
        <p:nvSpPr>
          <p:cNvPr id="5" name="text-66">
            <a:extLst xmlns:a="http://schemas.openxmlformats.org/drawingml/2006/main">
              <a:ext uri="{FF2B5EF4-FFF2-40B4-BE49-F238E27FC236}">
                <a16:creationId xmlns:a16="http://schemas.microsoft.com/office/drawing/2014/main" id="{5B818AF5-4967-4EAE-98C2-5898CD32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rPr>
              <a:t>队长  创意构思与产品设计</a:t>
            </a:r>
          </a:p>
        </p:txBody>
      </p:sp>
      <p:sp>
        <p:nvSpPr>
          <p:cNvPr id="6" name="text-67">
            <a:extLst xmlns:a="http://schemas.openxmlformats.org/drawingml/2006/main">
              <a:ext uri="{FF2B5EF4-FFF2-40B4-BE49-F238E27FC236}">
                <a16:creationId xmlns:a16="http://schemas.microsoft.com/office/drawing/2014/main" id="{711AAEF2-4AB6-4672-86E0-8874429A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rPr>
              <a:t>生物医学工程</a:t>
            </a:r>
          </a:p>
        </p:txBody>
      </p:sp>
      <p:sp>
        <p:nvSpPr>
          <p:cNvPr id="7" name="text-68">
            <a:extLst xmlns:a="http://schemas.openxmlformats.org/drawingml/2006/main">
              <a:ext uri="{FF2B5EF4-FFF2-40B4-BE49-F238E27FC236}">
                <a16:creationId xmlns:a16="http://schemas.microsoft.com/office/drawing/2014/main" id="{ECF192DA-CD69-479C-9067-F49411EE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859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rPr>
              <a:t>姜戴哲</a:t>
            </a:r>
          </a:p>
        </p:txBody>
      </p:sp>
      <p:sp>
        <p:nvSpPr>
          <p:cNvPr id="8" name="text-69">
            <a:extLst xmlns:a="http://schemas.openxmlformats.org/drawingml/2006/main">
              <a:ext uri="{FF2B5EF4-FFF2-40B4-BE49-F238E27FC236}">
                <a16:creationId xmlns:a16="http://schemas.microsoft.com/office/drawing/2014/main" id="{FF3DB681-294C-408D-8654-1016A640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907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rPr>
              <a:t>前端设计与前后端协同</a:t>
            </a:r>
          </a:p>
        </p:txBody>
      </p:sp>
      <p:sp>
        <p:nvSpPr>
          <p:cNvPr id="9" name="text-70">
            <a:extLst xmlns:a="http://schemas.openxmlformats.org/drawingml/2006/main">
              <a:ext uri="{FF2B5EF4-FFF2-40B4-BE49-F238E27FC236}">
                <a16:creationId xmlns:a16="http://schemas.microsoft.com/office/drawing/2014/main" id="{DADAD56A-9E16-4FCB-8ADC-315BCB2C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rPr>
              <a:t>电子信息工程</a:t>
            </a:r>
          </a:p>
        </p:txBody>
      </p:sp>
      <p:sp>
        <p:nvSpPr>
          <p:cNvPr id="10" name="text-71">
            <a:extLst xmlns:a="http://schemas.openxmlformats.org/drawingml/2006/main">
              <a:ext uri="{FF2B5EF4-FFF2-40B4-BE49-F238E27FC236}">
                <a16:creationId xmlns:a16="http://schemas.microsoft.com/office/drawing/2014/main" id="{73C45F1D-009A-4227-AA01-10A29B2B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rPr>
              <a:t>王云汉</a:t>
            </a:r>
          </a:p>
        </p:txBody>
      </p:sp>
      <p:sp>
        <p:nvSpPr>
          <p:cNvPr id="11" name="text-72">
            <a:extLst xmlns:a="http://schemas.openxmlformats.org/drawingml/2006/main">
              <a:ext uri="{FF2B5EF4-FFF2-40B4-BE49-F238E27FC236}">
                <a16:creationId xmlns:a16="http://schemas.microsoft.com/office/drawing/2014/main" id="{91866289-5E77-423F-A790-F849B97B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rPr>
              <a:t>前端设计与产品展示</a:t>
            </a:r>
          </a:p>
        </p:txBody>
      </p:sp>
      <p:sp>
        <p:nvSpPr>
          <p:cNvPr id="12" name="text-73">
            <a:extLst xmlns:a="http://schemas.openxmlformats.org/drawingml/2006/main">
              <a:ext uri="{FF2B5EF4-FFF2-40B4-BE49-F238E27FC236}">
                <a16:creationId xmlns:a16="http://schemas.microsoft.com/office/drawing/2014/main" id="{7CB2CEDB-58CC-4D5B-A670-DA55EF7D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rPr>
              <a:t>电子信息工程</a:t>
            </a:r>
          </a:p>
        </p:txBody>
      </p:sp>
      <p:sp>
        <p:nvSpPr>
          <p:cNvPr id="13" name="text-74">
            <a:extLst xmlns:a="http://schemas.openxmlformats.org/drawingml/2006/main">
              <a:ext uri="{FF2B5EF4-FFF2-40B4-BE49-F238E27FC236}">
                <a16:creationId xmlns:a16="http://schemas.microsoft.com/office/drawing/2014/main" id="{B01303A7-75E2-4FCF-83C9-602CF1DE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052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8F6EE"/>
                </a:solidFill>
                <a:latin typeface="Microsoft YaHei"/>
                <a:ea typeface="Microsoft YaHei"/>
                <a:cs typeface="Microsoft YaHei"/>
              </a:rPr>
              <a:t>钱胤辰</a:t>
            </a:r>
          </a:p>
        </p:txBody>
      </p:sp>
      <p:sp>
        <p:nvSpPr>
          <p:cNvPr id="14" name="text-75">
            <a:extLst xmlns:a="http://schemas.openxmlformats.org/drawingml/2006/main">
              <a:ext uri="{FF2B5EF4-FFF2-40B4-BE49-F238E27FC236}">
                <a16:creationId xmlns:a16="http://schemas.microsoft.com/office/drawing/2014/main" id="{C6944A2E-4DDF-4A79-AE07-742EAFFF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100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rPr>
              <a:t>后端算法生成</a:t>
            </a:r>
          </a:p>
        </p:txBody>
      </p:sp>
      <p:sp>
        <p:nvSpPr>
          <p:cNvPr id="15" name="text-76">
            <a:extLst xmlns:a="http://schemas.openxmlformats.org/drawingml/2006/main">
              <a:ext uri="{FF2B5EF4-FFF2-40B4-BE49-F238E27FC236}">
                <a16:creationId xmlns:a16="http://schemas.microsoft.com/office/drawing/2014/main" id="{ACA58039-1D26-4EEB-8F06-FBDA3C84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768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rPr>
              <a:t>计算机科学与技术</a:t>
            </a:r>
          </a:p>
        </p:txBody>
      </p:sp>
      <p:sp>
        <p:nvSpPr>
          <p:cNvPr id="16" name="text-77">
            <a:extLst xmlns:a="http://schemas.openxmlformats.org/drawingml/2006/main">
              <a:ext uri="{FF2B5EF4-FFF2-40B4-BE49-F238E27FC236}">
                <a16:creationId xmlns:a16="http://schemas.microsoft.com/office/drawing/2014/main" id="{0BE8693D-E029-4846-B73A-E6BA3A6F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ACCC1"/>
                </a:solidFill>
                <a:latin typeface="Microsoft YaHei"/>
                <a:ea typeface="Microsoft YaHei"/>
                <a:cs typeface="Microsoft YaHei"/>
              </a:rPr>
              <a:t>联系队长  fuyj12026@shanghaitech.edu.cn</a:t>
            </a:r>
          </a:p>
        </p:txBody>
      </p:sp>
    </p:spTree>
    <p:extLst>
      <p:ext uri="{BB962C8B-B14F-4D97-AF65-F5344CB8AC3E}">
        <p14:creationId xmlns:p14="http://schemas.microsoft.com/office/powerpoint/2010/main" val="12444357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E14828-F4C2-4BFD-9E05-A22261FA53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07424593a4cd3"/>
          <a:srcRect xmlns:a="http://schemas.openxmlformats.org/drawingml/2006/main" l="0" t="21528" r="0" b="215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3905250"/>
          </a:xfrm>
          <a:prstGeom xmlns:a="http://schemas.openxmlformats.org/drawingml/2006/main" prst="rect">
            <a:avLst/>
          </a:prstGeom>
        </p:spPr>
      </p:pic>
      <p:sp>
        <p:nvSpPr>
          <p:cNvPr id="2" name="text-78">
            <a:extLst xmlns:a="http://schemas.openxmlformats.org/drawingml/2006/main">
              <a:ext uri="{FF2B5EF4-FFF2-40B4-BE49-F238E27FC236}">
                <a16:creationId xmlns:a16="http://schemas.microsoft.com/office/drawing/2014/main" id="{8CA3DA6C-820F-4373-854A-BCD3D567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83B32"/>
                </a:solidFill>
                <a:latin typeface="Microsoft YaHei"/>
                <a:ea typeface="Microsoft YaHei"/>
                <a:cs typeface="Microsoft YaHei"/>
              </a:rPr>
              <a:t>让桌面回到顺手的样子</a:t>
            </a:r>
          </a:p>
        </p:txBody>
      </p:sp>
      <p:sp>
        <p:nvSpPr>
          <p:cNvPr id="3" name="text-79">
            <a:extLst xmlns:a="http://schemas.openxmlformats.org/drawingml/2006/main">
              <a:ext uri="{FF2B5EF4-FFF2-40B4-BE49-F238E27FC236}">
                <a16:creationId xmlns:a16="http://schemas.microsoft.com/office/drawing/2014/main" id="{D00AE523-E17A-46FC-8041-01240743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3766D"/>
                </a:solidFill>
                <a:latin typeface="Microsoft YaHei"/>
                <a:ea typeface="Microsoft YaHei"/>
                <a:cs typeface="Microsoft YaHei"/>
              </a:rPr>
              <a:t>寝空拓扑 DormTopology 3D</a:t>
            </a:r>
          </a:p>
        </p:txBody>
      </p:sp>
      <p:sp>
        <p:nvSpPr>
          <p:cNvPr id="4" name="text-80">
            <a:extLst xmlns:a="http://schemas.openxmlformats.org/drawingml/2006/main">
              <a:ext uri="{FF2B5EF4-FFF2-40B4-BE49-F238E27FC236}">
                <a16:creationId xmlns:a16="http://schemas.microsoft.com/office/drawing/2014/main" id="{EEFD37D7-1A7B-4371-BEB0-0F320CFF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079C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79C7E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e9e6c9ad5fc4ff0"/>
              </a:rPr>
              <a:t>github.com/Techathon-fufu/DormTopology</a:t>
            </a:r>
          </a:p>
        </p:txBody>
      </p:sp>
    </p:spTree>
    <p:extLst>
      <p:ext uri="{BB962C8B-B14F-4D97-AF65-F5344CB8AC3E}">
        <p14:creationId xmlns:p14="http://schemas.microsoft.com/office/powerpoint/2010/main" val="6605912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2026-10-18T08:40:19.1210000Z</dcterms:created>
  <dcterms:modified xsi:type="dcterms:W3CDTF">2026-10-18T08:40:19.1210000Z</dcterms:modified>
</coreProperties>
</file>